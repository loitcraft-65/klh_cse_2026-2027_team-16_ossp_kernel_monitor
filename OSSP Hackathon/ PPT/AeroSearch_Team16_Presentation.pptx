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Files Scanned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Sheet1!$A$2:$A$5</c:f>
              <c:strCache>
                <c:ptCount val="4"/>
                <c:pt idx="0">
                  <c:v>Thread #0</c:v>
                </c:pt>
                <c:pt idx="1">
                  <c:v>Thread #1</c:v>
                </c:pt>
                <c:pt idx="2">
                  <c:v>Thread #2</c:v>
                </c:pt>
                <c:pt idx="3">
                  <c:v>Thread #3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186</c:v>
                </c:pt>
                <c:pt idx="1">
                  <c:v>188</c:v>
                </c:pt>
                <c:pt idx="2">
                  <c:v>178</c:v>
                </c:pt>
                <c:pt idx="3">
                  <c:v>168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Matches Found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Sheet1!$A$2:$A$5</c:f>
              <c:strCache>
                <c:ptCount val="4"/>
                <c:pt idx="0">
                  <c:v>Thread #0</c:v>
                </c:pt>
                <c:pt idx="1">
                  <c:v>Thread #1</c:v>
                </c:pt>
                <c:pt idx="2">
                  <c:v>Thread #2</c:v>
                </c:pt>
                <c:pt idx="3">
                  <c:v>Thread #3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784</c:v>
                </c:pt>
                <c:pt idx="1">
                  <c:v>744</c:v>
                </c:pt>
                <c:pt idx="2">
                  <c:v>725</c:v>
                </c:pt>
                <c:pt idx="3">
                  <c:v>819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0F172A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0F172A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(Files/Sec)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Sheet1!$A$2:$A$5</c:f>
              <c:strCache>
                <c:ptCount val="4"/>
                <c:pt idx="0">
                  <c:v>Thread #0</c:v>
                </c:pt>
                <c:pt idx="1">
                  <c:v>Thread #1</c:v>
                </c:pt>
                <c:pt idx="2">
                  <c:v>Thread #2</c:v>
                </c:pt>
                <c:pt idx="3">
                  <c:v>Thread #3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788</c:v>
                </c:pt>
                <c:pt idx="1">
                  <c:v>796</c:v>
                </c:pt>
                <c:pt idx="2">
                  <c:v>754</c:v>
                </c:pt>
                <c:pt idx="3">
                  <c:v>712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0F172A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0F172A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HACKATHON PROJECT  ·  TEAM 16</a:t>
            </a:r>
          </a:p>
          <a:p>
            <a:pPr algn="l">
              <a:spcAft>
                <a:spcPts val="1600"/>
              </a:spcAft>
            </a:pPr>
            <a:r>
              <a:rPr sz="4400" b="1">
                <a:solidFill>
                  <a:srgbClr val="F8FAFC"/>
                </a:solidFill>
                <a:latin typeface="Inter Display"/>
              </a:rPr>
              <a:t>AeroSearch: Parallel Multi-Threaded File Search Engine</a:t>
            </a:r>
          </a:p>
          <a:p>
            <a:pPr algn="l"/>
            <a:r>
              <a:rPr sz="2000" b="0">
                <a:solidFill>
                  <a:srgbClr val="94A3B8"/>
                </a:solidFill>
                <a:latin typeface="Inter"/>
              </a:rPr>
              <a:t>Native POSIX C Core with Real-Time Worker Telemetry at 127.0.0.1:8000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Inter"/>
              </a:rPr>
              <a:t>Lohith Sanapala (2520030023)  ·  Saahas Vaddi (2520030256)  ·  Rapaka Rithwik (2520030427)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TEAM 16 ARCHITECTURE &amp; ROLES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Team 16 Engineered a Full-Stack Native C Search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Lohith Sanapala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ID 2520030023: </a:t>
            </a:r>
            <a:r>
              <a:rPr sz="1600" b="0">
                <a:solidFill>
                  <a:srgbClr val="475569"/>
                </a:solidFill>
                <a:latin typeface="Inter"/>
              </a:rPr>
              <a:t>Systems &amp; Concurrency Lead.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POSIX C Core: </a:t>
            </a:r>
            <a:r>
              <a:rPr sz="1600" b="0">
                <a:solidFill>
                  <a:srgbClr val="475569"/>
                </a:solidFill>
                <a:latin typeface="Inter"/>
              </a:rPr>
              <a:t>Built pthread pool and mutex locks.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Saahas Vaddi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ID 2520030256: </a:t>
            </a:r>
            <a:r>
              <a:rPr sz="1600" b="0">
                <a:solidFill>
                  <a:srgbClr val="475569"/>
                </a:solidFill>
                <a:latin typeface="Inter"/>
              </a:rPr>
              <a:t>File I/O &amp; Pattern Matching Lead.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Search Engine: </a:t>
            </a:r>
            <a:r>
              <a:rPr sz="1600" b="0">
                <a:solidFill>
                  <a:srgbClr val="475569"/>
                </a:solidFill>
                <a:latin typeface="Inter"/>
              </a:rPr>
              <a:t>Built file crawler and ext filters.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Rapaka Rithwik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ID 2520030427: </a:t>
            </a:r>
            <a:r>
              <a:rPr sz="1600" b="0">
                <a:solidFill>
                  <a:srgbClr val="475569"/>
                </a:solidFill>
                <a:latin typeface="Inter"/>
              </a:rPr>
              <a:t>Telemetry &amp; Web Interface Lead.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Dashboard UI: </a:t>
            </a:r>
            <a:r>
              <a:rPr sz="1600" b="0">
                <a:solidFill>
                  <a:srgbClr val="475569"/>
                </a:solidFill>
                <a:latin typeface="Inter"/>
              </a:rPr>
              <a:t>Built 127.0.0.1:8000 UI and exports.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AeroSearch (C Core)  ·  Team 16  ·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PROBLEM STATEMENT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Serial Scans Stall Multi-Core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Why Legacy Search Falls Short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Idle CPU Cores: </a:t>
            </a:r>
            <a:r>
              <a:rPr sz="1600" b="0">
                <a:solidFill>
                  <a:srgbClr val="475569"/>
                </a:solidFill>
                <a:latin typeface="Inter"/>
              </a:rPr>
              <a:t>Single-threaded tools leave 15 of 16 logical cores idle during deep scans.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I/O Bottlenecks: </a:t>
            </a:r>
            <a:r>
              <a:rPr sz="1600" b="0">
                <a:solidFill>
                  <a:srgbClr val="475569"/>
                </a:solidFill>
                <a:latin typeface="Inter"/>
              </a:rPr>
              <a:t>Linear traversal across hundreds of .c, .h, .py, and .log files inflates latency.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Opaque Execution: </a:t>
            </a:r>
            <a:r>
              <a:rPr sz="1600" b="0">
                <a:solidFill>
                  <a:srgbClr val="475569"/>
                </a:solidFill>
                <a:latin typeface="Inter"/>
              </a:rPr>
              <a:t>Standard CLI utilities hide per-thread workload, match density, and throughput.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AeroSearch (C Core)  ·  Team 16  ·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SYSTEM ARCHITECTURE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Three Decoupled Layers Link POSIX C to Web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1. POSIX C Core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Native Binary: </a:t>
            </a:r>
            <a:r>
              <a:rPr sz="1600" b="0">
                <a:solidFill>
                  <a:srgbClr val="475569"/>
                </a:solidFill>
                <a:latin typeface="Inter"/>
              </a:rPr>
              <a:t>Runs on 16-core, 15.7 GB RAM hosts.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Direct File I/O: </a:t>
            </a:r>
            <a:r>
              <a:rPr sz="1600" b="0">
                <a:solidFill>
                  <a:srgbClr val="475569"/>
                </a:solidFill>
                <a:latin typeface="Inter"/>
              </a:rPr>
              <a:t>Zero VM overhead for fast reads.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2. Thread Pool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Worker Pool: </a:t>
            </a:r>
            <a:r>
              <a:rPr sz="1600" b="0">
                <a:solidFill>
                  <a:srgbClr val="475569"/>
                </a:solidFill>
                <a:latin typeface="Inter"/>
              </a:rPr>
              <a:t>Scales across 4+ concurrent threads.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Mutex Safety: </a:t>
            </a:r>
            <a:r>
              <a:rPr sz="1600" b="0">
                <a:solidFill>
                  <a:srgbClr val="475569"/>
                </a:solidFill>
                <a:latin typeface="Inter"/>
              </a:rPr>
              <a:t>pthread_mutex_lock guards queues.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3. Web Bridge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Localhost UI: </a:t>
            </a:r>
            <a:r>
              <a:rPr sz="1600" b="0">
                <a:solidFill>
                  <a:srgbClr val="475569"/>
                </a:solidFill>
                <a:latin typeface="Inter"/>
              </a:rPr>
              <a:t>Hosted at http://127.0.0.1:8000/.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Live Metrics: </a:t>
            </a:r>
            <a:r>
              <a:rPr sz="1600" b="0">
                <a:solidFill>
                  <a:srgbClr val="475569"/>
                </a:solidFill>
                <a:latin typeface="Inter"/>
              </a:rPr>
              <a:t>Streams per-thread telemetry cards.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AeroSearch (C Core)  ·  Team 16  ·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thr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CONCURRENCY &amp; SYNCHRONIZATION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Mutex Locks Guard Worker Thread Pools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High-Concurrency POSIX Design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Parallel Dispatch: </a:t>
            </a:r>
            <a:r>
              <a:rPr sz="1600" b="0">
                <a:solidFill>
                  <a:srgbClr val="475569"/>
                </a:solidFill>
                <a:latin typeface="Inter"/>
              </a:rPr>
              <a:t>Directory crawler partitions E:/OSSP-Hackathon across active worker threads.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Critical Sections: </a:t>
            </a:r>
            <a:r>
              <a:rPr sz="1600" b="0">
                <a:solidFill>
                  <a:srgbClr val="475569"/>
                </a:solidFill>
                <a:latin typeface="Inter"/>
              </a:rPr>
              <a:t>Workers bracket shared state updates with pthread_mutex_lock and unlock.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Lock-Free Scanning: </a:t>
            </a:r>
            <a:r>
              <a:rPr sz="1600" b="0">
                <a:solidFill>
                  <a:srgbClr val="475569"/>
                </a:solidFill>
                <a:latin typeface="Inter"/>
              </a:rPr>
              <a:t>Line-by-line pattern matching executes in thread-local memory buffers.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AeroSearch (C Core)  ·  Team 16  ·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INTERACTIVE DASHBOARD (HTTP://127.0.0.1:8000/)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Web Console Unifies Search Controls and Live Telemetry</a:t>
            </a:r>
          </a:p>
        </p:txBody>
      </p:sp>
      <p:pic>
        <p:nvPicPr>
          <p:cNvPr id="4" name="Picture 3" descr="ui_inse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120640" cy="2606040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ui_inset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011680"/>
            <a:ext cx="5120640" cy="2606040"/>
          </a:xfrm>
          <a:prstGeom prst="rect">
            <a:avLst/>
          </a:prstGeom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731520" y="4754880"/>
            <a:ext cx="5120640" cy="1417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284C7"/>
                </a:solidFill>
                <a:latin typeface="Inter Display"/>
              </a:rPr>
              <a:t>Control Bar &amp; Worker Telemetry Cards</a:t>
            </a:r>
          </a:p>
          <a:p>
            <a:pPr algn="l" marL="237744" indent="-237744">
              <a:spcAft>
                <a:spcPts val="6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Query &amp; Pool Setup: </a:t>
            </a:r>
            <a:r>
              <a:rPr sz="1500" b="0">
                <a:solidFill>
                  <a:srgbClr val="475569"/>
                </a:solidFill>
                <a:latin typeface="Inter"/>
              </a:rPr>
              <a:t>Configures E:/OSSP-Hackathon, keyword mutex, 4 Threads, and live worker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4754880"/>
            <a:ext cx="5120640" cy="1417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284C7"/>
                </a:solidFill>
                <a:latin typeface="Inter Display"/>
              </a:rPr>
              <a:t>Granular Match Stream &amp; Export Bar</a:t>
            </a:r>
          </a:p>
          <a:p>
            <a:pPr algn="l" marL="237744" indent="-237744">
              <a:spcAft>
                <a:spcPts val="600"/>
              </a:spcAft>
              <a:buFont typeface="Inter"/>
              <a:buChar char="•"/>
            </a:pPr>
            <a:r>
              <a:rPr sz="1700" b="1">
                <a:solidFill>
                  <a:srgbClr val="0F172A"/>
                </a:solidFill>
                <a:latin typeface="Inter"/>
              </a:rPr>
              <a:t>Context &amp; Exports: </a:t>
            </a:r>
            <a:r>
              <a:rPr sz="1500" b="0">
                <a:solidFill>
                  <a:srgbClr val="475569"/>
                </a:solidFill>
                <a:latin typeface="Inter"/>
              </a:rPr>
              <a:t>Lists all 3,617 content hits with thread tags, line numbers, and JSON/CSV export.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AeroSearch (C Core)  ·  Team 16  ·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THREAD POOL WORKER TELEMETRY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Four Worker Threads Balance 823 Files and 3,617 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29768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Telemetry Breakdown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Even File Split: </a:t>
            </a:r>
            <a:r>
              <a:rPr sz="1600" b="0">
                <a:solidFill>
                  <a:srgbClr val="475569"/>
                </a:solidFill>
                <a:latin typeface="Inter"/>
              </a:rPr>
              <a:t>Workers process 168 to 188 files each across networking and utils modules.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High Hit Capture: </a:t>
            </a:r>
            <a:r>
              <a:rPr sz="1600" b="0">
                <a:solidFill>
                  <a:srgbClr val="475569"/>
                </a:solidFill>
                <a:latin typeface="Inter"/>
              </a:rPr>
              <a:t>Thread #3 leads with 819 matches; Thread #0 follows with 784 matches.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Zero Stragglers: </a:t>
            </a:r>
            <a:r>
              <a:rPr sz="1600" b="0">
                <a:solidFill>
                  <a:srgbClr val="475569"/>
                </a:solidFill>
                <a:latin typeface="Inter"/>
              </a:rPr>
              <a:t>All 4 POSIX threads reach DONE status simultaneously in 236.07 ms.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303520" y="2011680"/>
          <a:ext cx="61264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AeroSearch (C Core)  ·  Team 16  ·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SEARCH &amp; FILTERING ENGINE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Smart Filters Target Exact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Configurable Search Modes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Dual Match Scope: </a:t>
            </a:r>
            <a:r>
              <a:rPr sz="1600" b="0">
                <a:solidFill>
                  <a:srgbClr val="475569"/>
                </a:solidFill>
                <a:latin typeface="Inter"/>
              </a:rPr>
              <a:t>Combines Search Inside File Content, Match File Names, and Case Sensitive toggles.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Extension Filter: </a:t>
            </a:r>
            <a:r>
              <a:rPr sz="1600" b="0">
                <a:solidFill>
                  <a:srgbClr val="475569"/>
                </a:solidFill>
                <a:latin typeface="Inter"/>
              </a:rPr>
              <a:t>Targets .c, .h, .py, .txt, and .log files while scanning JS/C module trees.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Diagnostic Presets: </a:t>
            </a:r>
            <a:r>
              <a:rPr sz="1600" b="0">
                <a:solidFill>
                  <a:srgbClr val="475569"/>
                </a:solidFill>
                <a:latin typeface="Inter"/>
              </a:rPr>
              <a:t>One-click chips test queue, pthread, mutex, and DATABASE_DEADLOCK_DETECTED.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AeroSearch (C Core)  ·  Team 16  ·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LIVE RESULT STREAM (QUERY: MUTEX)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Line-Level Context Pinpoints Exact C Synchronization Code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88720"/>
                <a:gridCol w="4114800"/>
                <a:gridCol w="822960"/>
                <a:gridCol w="3566160"/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"/>
                        </a:rPr>
                        <a:t>Thread</a:t>
                      </a:r>
                    </a:p>
                  </a:txBody>
                  <a:tcPr anchor="ctr" marL="109728" marR="109728" marT="73152" marB="73152"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"/>
                        </a:rPr>
                        <a:t>Type</a:t>
                      </a:r>
                    </a:p>
                  </a:txBody>
                  <a:tcPr anchor="ctr" marL="109728" marR="109728" marT="73152" marB="73152"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"/>
                        </a:rPr>
                        <a:t>Dataset File Path</a:t>
                      </a:r>
                    </a:p>
                  </a:txBody>
                  <a:tcPr anchor="ctr" marL="109728" marR="109728" marT="73152" marB="73152"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"/>
                        </a:rPr>
                        <a:t>Line</a:t>
                      </a:r>
                    </a:p>
                  </a:txBody>
                  <a:tcPr anchor="ctr" marL="109728" marR="109728" marT="73152" marB="73152"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"/>
                        </a:rPr>
                        <a:t>Matched Content / Context Snippet</a:t>
                      </a:r>
                    </a:p>
                  </a:txBody>
                  <a:tcPr anchor="ctr" marL="109728" marR="109728" marT="73152" marB="73152">
                    <a:solidFill>
                      <a:srgbClr val="0B112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Inter"/>
                        </a:rPr>
                        <a:t>T#1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9488"/>
                          </a:solidFill>
                          <a:latin typeface="Inter"/>
                        </a:rPr>
                        <a:t>CONTENT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E:/OSSP-Hackathon/test_dataset/src/utils/module_0765_fsu...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46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pthread_mutex_unlock(&amp;lock);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Inter"/>
                        </a:rPr>
                        <a:t>T#2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9488"/>
                          </a:solidFill>
                          <a:latin typeface="Inter"/>
                        </a:rPr>
                        <a:t>CONTENT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E:/OSSP-Hackathon/test_dataset/src/utils/module_0770_vdq...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// High concurrency mutex synchronization block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Inter"/>
                        </a:rPr>
                        <a:t>T#2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9488"/>
                          </a:solidFill>
                          <a:latin typeface="Inter"/>
                        </a:rPr>
                        <a:t>CONTENT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E:/OSSP-Hackathon/test_dataset/src/utils/module_0770_vdq...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pthread_mutex_lock(&amp;lock);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Inter"/>
                        </a:rPr>
                        <a:t>T#2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9488"/>
                          </a:solidFill>
                          <a:latin typeface="Inter"/>
                        </a:rPr>
                        <a:t>CONTENT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E:/OSSP-Hackathon/test_dataset/src/utils/module_0770_vdq...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pthread_mutex_unlock(&amp;lock);</a:t>
                      </a:r>
                    </a:p>
                  </a:txBody>
                  <a:tcPr anchor="ctr" marL="109728" marR="109728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AeroSearch (C Core)  ·  Team 16  ·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PERFORMANCE BENCHMARKING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AeroSearch Scans 823 Files in 236.07 ms at 3,545 Files/Sec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29768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Verified Benchmark Metrics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236.07 ms Latency: </a:t>
            </a:r>
            <a:r>
              <a:rPr sz="1600" b="0">
                <a:solidFill>
                  <a:srgbClr val="475569"/>
                </a:solidFill>
                <a:latin typeface="Inter"/>
              </a:rPr>
              <a:t>Completes full content scan of 823 files and 3,617 matches in under a quarter-second.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3,545 f/s Throughput: </a:t>
            </a:r>
            <a:r>
              <a:rPr sz="1600" b="0">
                <a:solidFill>
                  <a:srgbClr val="475569"/>
                </a:solidFill>
                <a:latin typeface="Inter"/>
              </a:rPr>
              <a:t>Sustains high-speed file ingestion across 4 concurrent POSIX threads.</a:t>
            </a:r>
          </a:p>
          <a:p>
            <a:pPr algn="l" marL="237744" indent="-237744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4.39 Matches / File: </a:t>
            </a:r>
            <a:r>
              <a:rPr sz="1600" b="0">
                <a:solidFill>
                  <a:srgbClr val="475569"/>
                </a:solidFill>
                <a:latin typeface="Inter"/>
              </a:rPr>
              <a:t>Identifies dense synchronization patterns across C and JS test modules.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303520" y="2011680"/>
          <a:ext cx="61264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AeroSearch (C Core)  ·  Team 16  ·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WORKFLOW INTEGRATION &amp; IMPACT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Built-In Stress Generators and Exports Streamline Audits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Test Generator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Synthetic Trees: </a:t>
            </a:r>
            <a:r>
              <a:rPr sz="1600" b="0">
                <a:solidFill>
                  <a:srgbClr val="475569"/>
                </a:solidFill>
                <a:latin typeface="Inter"/>
              </a:rPr>
              <a:t>Builds src/utils and networking folders.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Stress Loads: </a:t>
            </a:r>
            <a:r>
              <a:rPr sz="1600" b="0">
                <a:solidFill>
                  <a:srgbClr val="475569"/>
                </a:solidFill>
                <a:latin typeface="Inter"/>
              </a:rPr>
              <a:t>Generates C, JS, and TXT test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Benchmarking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Live Timing: </a:t>
            </a:r>
            <a:r>
              <a:rPr sz="1600" b="0">
                <a:solidFill>
                  <a:srgbClr val="475569"/>
                </a:solidFill>
                <a:latin typeface="Inter"/>
              </a:rPr>
              <a:t>Measures wall-clock latency in ms.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Pool Scaling: </a:t>
            </a:r>
            <a:r>
              <a:rPr sz="1600" b="0">
                <a:solidFill>
                  <a:srgbClr val="475569"/>
                </a:solidFill>
                <a:latin typeface="Inter"/>
              </a:rPr>
              <a:t>Tests 4 threads on 16-core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Data Exports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Instant Filter: </a:t>
            </a:r>
            <a:r>
              <a:rPr sz="1600" b="0">
                <a:solidFill>
                  <a:srgbClr val="475569"/>
                </a:solidFill>
                <a:latin typeface="Inter"/>
              </a:rPr>
              <a:t>Narrows 3,617 displayed hits live.</a:t>
            </a:r>
          </a:p>
          <a:p>
            <a:pPr algn="l" marL="237744" indent="-237744">
              <a:spcAft>
                <a:spcPts val="1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JSON &amp; CSV: </a:t>
            </a:r>
            <a:r>
              <a:rPr sz="1600" b="0">
                <a:solidFill>
                  <a:srgbClr val="475569"/>
                </a:solidFill>
                <a:latin typeface="Inter"/>
              </a:rPr>
              <a:t>One-click export for CI/CD audits.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Inter"/>
              </a:rPr>
              <a:t>AeroSearch (C Core)  ·  Team 16  ·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AEROSEARCH PARALLEL ENGINE  ·  TEAM 16</a:t>
            </a:r>
          </a:p>
          <a:p>
            <a:pPr algn="l">
              <a:spcAft>
                <a:spcPts val="1600"/>
              </a:spcAft>
            </a:pPr>
            <a:r>
              <a:rPr sz="4400" b="1">
                <a:solidFill>
                  <a:srgbClr val="F8FAFC"/>
                </a:solidFill>
                <a:latin typeface="Inter Display"/>
              </a:rPr>
              <a:t>Thank You — Questions &amp; Live Demo</a:t>
            </a:r>
          </a:p>
          <a:p>
            <a:pPr algn="l"/>
            <a:r>
              <a:rPr sz="2000" b="0">
                <a:solidFill>
                  <a:srgbClr val="94A3B8"/>
                </a:solidFill>
                <a:latin typeface="Inter"/>
              </a:rPr>
              <a:t>Native POSIX Multi-Threading at 3,545 Files/Second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Inter"/>
              </a:rPr>
              <a:t>Lohith Sanapala (2520030023)  ·  Saahas Vaddi (2520030256)  ·  Rapaka Rithwik (2520030427)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